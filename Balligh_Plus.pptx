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Scénario Pessimiste</c:v>
                </c:pt>
              </c:strCache>
            </c:strRef>
          </c:tx>
          <c:spPr>
            <a:solidFill>
              <a:srgbClr val="0D6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N+1</c:v>
                  </c:pt>
                  <c:pt idx="1">
                    <c:v>N+2</c:v>
                  </c:pt>
                  <c:pt idx="2">
                    <c:v>N+3</c:v>
                  </c:pt>
                  <c:pt idx="3">
                    <c:v>N+4</c:v>
                  </c:pt>
                  <c:pt idx="4">
                    <c:v>N+5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1650000</c:v>
                </c:pt>
                <c:pt idx="1">
                  <c:v>3300000</c:v>
                </c:pt>
                <c:pt idx="2">
                  <c:v>7200000</c:v>
                </c:pt>
                <c:pt idx="3">
                  <c:v>12050000</c:v>
                </c:pt>
                <c:pt idx="4">
                  <c:v>17500000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Scénario Optimiste</c:v>
                </c:pt>
              </c:strCache>
            </c:strRef>
          </c:tx>
          <c:spPr>
            <a:solidFill>
              <a:srgbClr val="00B0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N+1</c:v>
                  </c:pt>
                  <c:pt idx="1">
                    <c:v>N+2</c:v>
                  </c:pt>
                  <c:pt idx="2">
                    <c:v>N+3</c:v>
                  </c:pt>
                  <c:pt idx="3">
                    <c:v>N+4</c:v>
                  </c:pt>
                  <c:pt idx="4">
                    <c:v>N+5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7300000</c:v>
                </c:pt>
                <c:pt idx="1">
                  <c:v>14400000</c:v>
                </c:pt>
                <c:pt idx="2">
                  <c:v>23500000</c:v>
                </c:pt>
                <c:pt idx="3">
                  <c:v>32500000</c:v>
                </c:pt>
                <c:pt idx="4">
                  <c:v>41700000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8F5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6E7A">
              <a:alpha val="30000"/>
            </a:srgbClr>
          </a:solidFill>
          <a:ln w="12700">
            <a:solidFill>
              <a:srgbClr val="0D6E7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09B">
              <a:alpha val="20000"/>
            </a:srgbClr>
          </a:solidFill>
          <a:ln w="12700">
            <a:solidFill>
              <a:srgbClr val="00B09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Akli Mohand Oulhadj de Bouira — Master Informatique ISIL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0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Balligh+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de Signalement Urbain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des Communes Algériennes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828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RAHAL Lyes  ·  BAHAR Naceredine  ·  BOUKHRISSA Yazid    |    Encadrant : Mr DJOUABRI Abdrazak    |   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Présentation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2918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Le problème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citoyens algériens manquent d'un canal numérique pour signaler les dysfonctionnements urbains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Nids-de-poule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d'éclairage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Fuites d'eau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sauvages de déchets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délais longs, opacité, frustration citoyenne.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solution — Balligh+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multilingue (AR / FR / EN) permettant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géolocalisé avec photos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du statut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 citoyen ↔ commune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analytique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communautaire de priorisation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 en PHP / HTML5 / CSS3 / JS Vanilla — MySQL — Leaflet.js / OpenStreetMap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Objectifs &amp; Calendrier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47472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 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64792"/>
            <a:ext cx="2606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dans une commune de Bouira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utilisateurs actifs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signalements traités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d'expérience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347472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972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764792"/>
            <a:ext cx="2606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87452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aux 58 wilayas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 des communes connectées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Android / iOS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emplois directs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347472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 ans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764792"/>
            <a:ext cx="26060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7452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nationale du signalement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&amp; Afrique francophone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50 000+ utilisateurs actifs/an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des signalements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36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Réalisation en 4 mois : Étude des besoins  →  Conception UX/UI  →  Développement  →  Tests &amp; Déploiement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Aspects Innovants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06040" cy="16916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161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Cartographie interactive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9768" y="158191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OSM · Clustering auto · Marqueurs par catégorie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051560"/>
            <a:ext cx="2606040" cy="16916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64408" y="1161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Géolocalisation GPS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64408" y="158191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Geolocation navigateur · Marqueur déplaçable sur la carte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051560"/>
            <a:ext cx="2606040" cy="16916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99048" y="1161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Vote communautaire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99048" y="158191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le même problème » · Priorisation citoyenne des incidents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2606040" cy="16916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temps réel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9768" y="345643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30s · Icône cloche · Statuts : En attente / En traitement / Résolu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2926080"/>
            <a:ext cx="2606040" cy="16916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64408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analytique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64408" y="345643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mensuelles · Répartition par catégorie · Export CSV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926080"/>
            <a:ext cx="2606040" cy="169164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99048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Trilingue RTL natif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48" y="345643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 / Français / Anglais · Support RTL complet · Accessibilité maximale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Analyse Stratégique — SWOT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potentiel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32M+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alg. (2024)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2024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1 541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874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algériennes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92024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325880"/>
            <a:ext cx="192024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874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pénétration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4023360" cy="1143000"/>
          </a:xfrm>
          <a:prstGeom prst="rect">
            <a:avLst/>
          </a:prstGeom>
          <a:solidFill>
            <a:srgbClr val="1B6E5A"/>
          </a:solidFill>
          <a:ln w="12700">
            <a:solidFill>
              <a:srgbClr val="1B6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9748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Trilingue + RTL natif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Leaflet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temps réel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CSV export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communautaire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377440"/>
            <a:ext cx="4023360" cy="1143000"/>
          </a:xfrm>
          <a:prstGeom prst="rect">
            <a:avLst/>
          </a:prstGeom>
          <a:solidFill>
            <a:srgbClr val="7A3B2A"/>
          </a:solidFill>
          <a:ln w="12700">
            <a:solidFill>
              <a:srgbClr val="7A3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69748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d'app mobile native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Notoriété faible au lancement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connectivité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à optimiser (scalabilité)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4023360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e-Algeria / Smart City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concurrent mature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universitaires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demande citoyenne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657600"/>
            <a:ext cx="4023360" cy="1143000"/>
          </a:xfrm>
          <a:prstGeom prst="rect">
            <a:avLst/>
          </a:prstGeom>
          <a:solidFill>
            <a:srgbClr val="6E4B1A"/>
          </a:solidFill>
          <a:ln w="12700">
            <a:solidFill>
              <a:srgbClr val="6E4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Instabilité réglementaire données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institutionnelle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infra rurale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 de la 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|  Stack Technologique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" cy="64008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1051560"/>
            <a:ext cx="7772400" cy="640080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106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807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Vanilla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502920" cy="6400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1810512"/>
            <a:ext cx="7772400" cy="640080"/>
          </a:xfrm>
          <a:prstGeom prst="rect">
            <a:avLst/>
          </a:prstGeom>
          <a:solidFill>
            <a:srgbClr val="E8F5F4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865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396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8.x · Architecture single-file index.php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502920" cy="6400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946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" y="2569464"/>
            <a:ext cx="7772400" cy="640080"/>
          </a:xfrm>
          <a:prstGeom prst="rect">
            <a:avLst/>
          </a:prstGeom>
          <a:solidFill>
            <a:srgbClr val="E8F5F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624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986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Stockage structuré et sécurisé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502920" cy="640080"/>
          </a:xfrm>
          <a:prstGeom prst="rect">
            <a:avLst/>
          </a:prstGeom>
          <a:solidFill>
            <a:srgbClr val="4A7A3A"/>
          </a:solidFill>
          <a:ln w="12700">
            <a:solidFill>
              <a:srgbClr val="4A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2841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" y="3328416"/>
            <a:ext cx="7772400" cy="640080"/>
          </a:xfrm>
          <a:prstGeom prst="rect">
            <a:avLst/>
          </a:prstGeom>
          <a:solidFill>
            <a:srgbClr val="E8F5F4"/>
          </a:solidFill>
          <a:ln w="12700">
            <a:solidFill>
              <a:srgbClr val="4A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· OpenStreetMap · API Geolocation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87368"/>
            <a:ext cx="502920" cy="640080"/>
          </a:xfrm>
          <a:prstGeom prst="rect">
            <a:avLst/>
          </a:prstGeom>
          <a:solidFill>
            <a:srgbClr val="7A3A6A"/>
          </a:solidFill>
          <a:ln w="12700">
            <a:solidFill>
              <a:srgbClr val="7A3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8736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" y="4087368"/>
            <a:ext cx="7772400" cy="640080"/>
          </a:xfrm>
          <a:prstGeom prst="rect">
            <a:avLst/>
          </a:prstGeom>
          <a:solidFill>
            <a:srgbClr val="E8F5F4"/>
          </a:solidFill>
          <a:ln w="12700">
            <a:solidFill>
              <a:srgbClr val="7A3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4165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PHP · Validation données · Protection XSS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légère · Déployable sur VPS standard · GitHub pour la gestion de version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|  Prototype Expérimental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06040" cy="1737360"/>
          </a:xfrm>
          <a:prstGeom prst="rect">
            <a:avLst/>
          </a:prstGeom>
          <a:solidFill>
            <a:srgbClr val="0A2E36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06040" cy="4114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2704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temps réel · Hero · Comment ça marche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Derniers signalements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06040" cy="1737360"/>
          </a:xfrm>
          <a:prstGeom prst="rect">
            <a:avLst/>
          </a:prstGeom>
          <a:solidFill>
            <a:srgbClr val="0A2E36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51560"/>
            <a:ext cx="2606040" cy="4114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52704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· Markers colorés · Clustering auto · Modal détail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051560"/>
            <a:ext cx="2606040" cy="1737360"/>
          </a:xfrm>
          <a:prstGeom prst="rect">
            <a:avLst/>
          </a:prstGeom>
          <a:solidFill>
            <a:srgbClr val="0A2E36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51560"/>
            <a:ext cx="2606040" cy="4114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152704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géolocalisé · 6 photos · 58 wilayas · Numéro de réf. unique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06040" cy="1737360"/>
          </a:xfrm>
          <a:prstGeom prst="rect">
            <a:avLst/>
          </a:prstGeom>
          <a:solidFill>
            <a:srgbClr val="0A2E36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2606040" cy="4114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44728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mensuels · Filtres · Statuts · Export CSV · Gestion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606040" cy="1737360"/>
          </a:xfrm>
          <a:prstGeom prst="rect">
            <a:avLst/>
          </a:prstGeom>
          <a:solidFill>
            <a:srgbClr val="0A2E36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971800"/>
            <a:ext cx="2606040" cy="4114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signalements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44728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personnel · Statuts · Votes · Commentaires officiels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2971800"/>
            <a:ext cx="2606040" cy="1737360"/>
          </a:xfrm>
          <a:prstGeom prst="rect">
            <a:avLst/>
          </a:prstGeom>
          <a:solidFill>
            <a:srgbClr val="0A2E36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971800"/>
            <a:ext cx="2606040" cy="4114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48" y="344728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30s · Cloche · Marquage global lu · Distinction officielle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|  Plan Financier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revenus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0" cy="438912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Commune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DA/mois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Wilaya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DA/mois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3840480" cy="438912"/>
          </a:xfrm>
          <a:prstGeom prst="rect">
            <a:avLst/>
          </a:prstGeom>
          <a:solidFill>
            <a:srgbClr val="E8F5F4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API (8%)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24231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26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Publicité institutionnelle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92608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DA/annonce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projeté (DA)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480560" y="137160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3520440"/>
            <a:ext cx="3840480" cy="50292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annuels (Année N) : ~3 200 000 DA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2 280 000  ·  Exploitation 730 000  ·  Immobilisations 917 000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6E7A">
              <a:alpha val="20000"/>
            </a:srgbClr>
          </a:solidFill>
          <a:ln w="12700">
            <a:solidFill>
              <a:srgbClr val="0D6E7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B09B">
              <a:alpha val="20000"/>
            </a:srgbClr>
          </a:solidFill>
          <a:ln w="12700">
            <a:solidFill>
              <a:srgbClr val="00B09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0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0" cy="7498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1051560"/>
            <a:ext cx="7680960" cy="749808"/>
          </a:xfrm>
          <a:prstGeom prst="rect">
            <a:avLst/>
          </a:prstGeom>
          <a:solidFill>
            <a:srgbClr val="112830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5156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fonctionnel démontrant la faisabilité technique avec des technologies accessibles.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48640" cy="7498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2011680"/>
            <a:ext cx="7680960" cy="749808"/>
          </a:xfrm>
          <a:prstGeom prst="rect">
            <a:avLst/>
          </a:prstGeom>
          <a:solidFill>
            <a:srgbClr val="112830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01168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légère déployable immédiatement · Support trilingue RTL · 1 541 communes sans solution équivalente.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48640" cy="7498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2971800"/>
            <a:ext cx="7680960" cy="749808"/>
          </a:xfrm>
          <a:prstGeom prst="rect">
            <a:avLst/>
          </a:prstGeom>
          <a:solidFill>
            <a:srgbClr val="112830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7180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: migration PostgreSQL · Application mobile native Android/iOS · API municipale dédiée.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48640" cy="7498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3931920"/>
            <a:ext cx="7680960" cy="749808"/>
          </a:xfrm>
          <a:prstGeom prst="rect">
            <a:avLst/>
          </a:prstGeom>
          <a:solidFill>
            <a:srgbClr val="112830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93192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: référence nationale → Maghreb → Afrique francophone · 50 000+ utilisateurs actifs/an.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Balligh+  ·  Signalement Urbain Intelligent  ·  Université Akli Mohand Oulhadj de Bouira  · 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Balligh+ — Plateforme Intelligente de Signalement Urbain</dc:title>
  <dc:subject>PptxGenJS Presentation</dc:subject>
  <dc:creator>PptxGenJS</dc:creator>
  <cp:lastModifiedBy>PptxGenJS</cp:lastModifiedBy>
  <cp:revision>1</cp:revision>
  <dcterms:created xsi:type="dcterms:W3CDTF">2026-05-30T18:16:15Z</dcterms:created>
  <dcterms:modified xsi:type="dcterms:W3CDTF">2026-05-30T18:16:15Z</dcterms:modified>
</cp:coreProperties>
</file>